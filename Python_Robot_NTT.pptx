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46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4F7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F39C12">
                    <a:alpha val="60000"/>
                  </a:srgbClr>
                </a:solidFill>
              </a:rPr>
              <a:t>⚙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trong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Robot &amp;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 kỹ thuật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5029200" cy="274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thuyết trình chuyên sâu | Môn: Nhập môn Công nghệ số &amp; ỨDTTNT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Tiến Tài  |  Ngành Cơ điện tử  |  UET – ĐHQGHN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THUYẾT TRÌNH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về Python trong Robotics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502920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019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Robot + Camera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98064"/>
            <a:ext cx="502920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7980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907792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Robot – Kinematics với Python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94176"/>
            <a:ext cx="502920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69417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803904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điều khiển PID bằng Python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05840"/>
            <a:ext cx="502920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115568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 kỹ thuật – Computer Vision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01952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01952"/>
            <a:ext cx="502920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9019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011680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hợp: Robot Pick-and-Place tự động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798064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98064"/>
            <a:ext cx="502920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7980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907792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&amp; Demo kết quả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694176"/>
            <a:ext cx="4206240" cy="713232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94176"/>
            <a:ext cx="502920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69417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803904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PYTHON TRONG ROBOTICS?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Cú pháp đơn giản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đọc, dễ viết – phù hợp cho nghiên cứu và phát triển nhanh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206240" cy="548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69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Thư viện phong phú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OpenCV, ROS, PyTorch, Matplotlib...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420624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Hỗ trợ ROS/ROS2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651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Operating System tích hợp Python API đầy đủ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4206240" cy="548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Khoa học dữ liệu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dữ liệu cảm biến, phân tích tín hiệu, machine learning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29000"/>
            <a:ext cx="420624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Cộng đồng lớn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triệu tài liệu, ví dụ và thư viện mã nguồn mở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29000"/>
            <a:ext cx="4206240" cy="548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Cross-platform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trên Raspberry Pi, Jetson Nano, PC – linh hoạt triển khai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ROBOT + CAMERA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554480" cy="1463040"/>
          </a:xfrm>
          <a:prstGeom prst="rect">
            <a:avLst/>
          </a:prstGeom>
          <a:solidFill>
            <a:srgbClr val="0E66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ảnh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01368" y="1682496"/>
            <a:ext cx="16459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1929384" y="16093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554480" cy="14630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1682496"/>
            <a:ext cx="16459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694176" y="16093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58184" y="1005840"/>
            <a:ext cx="1554480" cy="1463040"/>
          </a:xfrm>
          <a:prstGeom prst="rect">
            <a:avLst/>
          </a:prstGeom>
          <a:solidFill>
            <a:srgbClr val="0E66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58184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58184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Object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30952" y="1682496"/>
            <a:ext cx="16459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5458968" y="16093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22976" y="1005840"/>
            <a:ext cx="1554480" cy="14630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22976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22976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Solver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95744" y="1682496"/>
            <a:ext cx="16459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6093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87768" y="1005840"/>
            <a:ext cx="1554480" cy="1463040"/>
          </a:xfrm>
          <a:prstGeom prst="rect">
            <a:avLst/>
          </a:prstGeom>
          <a:solidFill>
            <a:srgbClr val="0E66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87768" y="1051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87768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Control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8595360" cy="42062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7889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Robot2DOF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27889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Forward &amp; Inverse Kinematics cho robot 2-DOF phẳng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291840"/>
            <a:ext cx="8595360" cy="42062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291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PIDController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29184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Bộ điều khiển PID số với anti-windup, tính toán theo bước thời gian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94760"/>
            <a:ext cx="8595360" cy="42062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79476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ImageProcessor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79476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Threshold nhị phân, Gaussian blur, Sobel edge, phát hiện vật thể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297680"/>
            <a:ext cx="8595360" cy="42062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2976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RobotWithCamera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429768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Tích hợp toàn bộ pipeline từ camera đến điều khiển chuyển động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ROBOT – KINEMATICS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356616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840480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Lý thuyết Kinematics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2-DOF: 2 khớp quay (Revolute Joint)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1.0m (link 1),  L2 = 0.8m (link 2)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Động học thuận (FK):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L1·cos(θ1) + L2·cos(θ1+θ2)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= L1·sin(θ1) + L2·sin(θ1+θ2)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Động học ngược (IK):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cos(θ2) = (x²+y²−L1²−L2²) / 2L1L2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θ1 = atan2(y,x) − atan2(k2,k1)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Vùng làm việc: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Rmax = L1 + L2 = 1.8 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914400"/>
            <a:ext cx="4526280" cy="35661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robot_simulation.py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325880"/>
            <a:ext cx="42976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Robot2DOF: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L1=1.0, L2=0.8):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self.L1 = L1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self.L2 = L2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forward_kinematics(self, t1, t2):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x1 = self.L1 * cos(t1)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y1 = self.L1 * sin(t1)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x2 = x1 + self.L2 * cos(t1+t2)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y2 = y1 + self.L2 * sin(t1+t2)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(x1,y1), (x2,y2)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inverse_kinematics(self, x, y):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c2 = (x**2+y**2-L1**2-L2**2)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 (2*L1*L2)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t2 = acos(clamp(c2,-1,1))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k1 = L1 + L2*cos(t2)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k2 = L2*sin(t2)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t1 = atan2(y,x)-atan2(k2,k1)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degrees(t1), degrees(t2)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ĐIỀU KHIỂN PID BẰNG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19202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 – Tỷ lệ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 × e(t)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tức thì với sai số hiện tại. Kp lớn → nhanh nhưng dễ dao động.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834640" cy="19202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960120"/>
            <a:ext cx="2834640" cy="50292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960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 – Tích phân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9272" y="1508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 × ∫e dt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1920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Triệt tiêu sai số tĩnh (steady-state error). Tích lũy theo thời gian.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960120"/>
            <a:ext cx="2834640" cy="19202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960120"/>
            <a:ext cx="283464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960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 – Vi phân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1508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 × de/dt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2784" y="1920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xu hướng sai số, giảm vọt lố (overshoot). Làm trơn điều khiển.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8595360" cy="1801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127248"/>
            <a:ext cx="822960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PIDController: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Kp=2.0, Ki=0.1, Kd=0.5, dt=0.01):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self.Kp, self.Ki, self.Kd, self.dt = Kp, Ki, Kd, dt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self.integral = 0.0;  self.prev_error = 0.0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compute(self, setpoint, current):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= setpoint - current                          # Sai số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self.integral += error * self.dt                   # Tích phân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derivative = (error - self.prev_error) / self.dt  # Vi phân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 = self.Kp*error + self.Ki*self.integral + self.Kd*derivative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self.prev_error = error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output, error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 KỸ THUẬT – COMPUTER 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0020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1600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14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Ảnh gốc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417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create_test_image()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Grayscale 64×64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01368" y="13716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47672" y="914400"/>
            <a:ext cx="160020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47672" y="914400"/>
            <a:ext cx="1600200" cy="4572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1947672" y="914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Gaussian Blur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0824" y="1417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gaussian_kernel()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apply_kernel()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13716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12464" y="914400"/>
            <a:ext cx="160020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914400"/>
            <a:ext cx="1600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914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Phát hiện cạnh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1417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sobel_edge_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30952" y="13716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77256" y="914400"/>
            <a:ext cx="160020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914400"/>
            <a:ext cx="1600200" cy="4572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2" name="Text 20"/>
          <p:cNvSpPr/>
          <p:nvPr/>
        </p:nvSpPr>
        <p:spPr>
          <a:xfrm>
            <a:off x="5477256" y="914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Threshold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1417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image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95744" y="13716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42048" y="914400"/>
            <a:ext cx="160020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42048" y="914400"/>
            <a:ext cx="16002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7242048" y="914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Detect Object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1417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find_objects()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bounding boxes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560320"/>
            <a:ext cx="8595360" cy="51206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2560320"/>
            <a:ext cx="54864" cy="5120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5603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Gaussian Blur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06040" y="2560320"/>
            <a:ext cx="6172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exp(-(x²+y²)/2σ²) | Làm mờ để giảm nhiễu trước khi phát hiện cạnh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163824"/>
            <a:ext cx="8595360" cy="51206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163824"/>
            <a:ext cx="54864" cy="5120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1638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Sobel Edge Detection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606040" y="3163824"/>
            <a:ext cx="6172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Gx, Gy kernels 3×3 | magnitude = √(Gx²+Gy²) | Phát hiện biên vật thể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767328"/>
            <a:ext cx="8595360" cy="51206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767328"/>
            <a:ext cx="54864" cy="5120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673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Binary Threshold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606040" y="3767328"/>
            <a:ext cx="6172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&gt; thresh → 255, else 0 | Tách vật thể khỏi nền ảnh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51206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4370832"/>
            <a:ext cx="54864" cy="5120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3708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Connected Components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606040" y="4370832"/>
            <a:ext cx="6172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duyệt pixel liên thông | Tìm bbox, centroid, area của vật thể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HỢP: ROBOT PICK-AND-PLACE TỰ ĐỘNG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F5FB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RobotWithCamera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81528" y="1463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960120"/>
            <a:ext cx="2743200" cy="4114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4173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chụp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phát hiện vật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463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35624" y="96012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960120"/>
            <a:ext cx="274320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14173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+ Threshold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06040"/>
            <a:ext cx="2743200" cy="4114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0632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1528" y="3108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27832" y="260604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2606040"/>
            <a:ext cx="274320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3227832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9272" y="30632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Solver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góc khớp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108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35624" y="2606040"/>
            <a:ext cx="274320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2606040"/>
            <a:ext cx="2743200" cy="4114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BƯỚC 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27064" y="30632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điều khiển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F39C12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793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Kết quả: Phát hiện 2 vật thể  |  Tỷ lệ thành công 100%  |  FK error = 0.000000 m  |  Sai số IK ≈ 0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DEMO – OUTPUT CHƯƠNG TRÌNH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212080" cy="39776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212080" cy="34747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8696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Robot 2-DOF: L1=1.0m, L2=0.8m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Vùng làm việc: R = 1.80 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Phát hiện: 2 vật thể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Vật 1: bbox=(10,10,29,29), area=400px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Vật 2: bbox=(35,35,54,54), area=400px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Gaussian blur: kernel 3x3, σ=1.0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Sobel edge density = 15.5%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Waypoint 1: (-0.260,-0.260) 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θ1=-182.7°, θ2=160.1°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Waypoint 2: (0.240,0.240) 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θ1=-0.6°, θ2=162.4°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Hoàn thành: 2/2 | Tỷ lệ: 100%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IK(0.8,0.5) → FK err=0.000000m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IK(1.0,0.3) → FK err=0.000000m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15000" y="960120"/>
            <a:ext cx="3154680" cy="82296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960120"/>
            <a:ext cx="64008" cy="82296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960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40880" y="960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1920240"/>
            <a:ext cx="3154680" cy="82296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920240"/>
            <a:ext cx="64008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9202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2880360"/>
            <a:ext cx="3154680" cy="82296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880360"/>
            <a:ext cx="64008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8803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40880" y="2880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15000" y="3840480"/>
            <a:ext cx="3154680" cy="82296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15000" y="3840480"/>
            <a:ext cx="64008" cy="82296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38404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thể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MÃ NGUỒN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78308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3891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Robot2DOF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động học robot 2 bậc tự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__init__(L1, L2)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4310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forward_kinematics(θ1, θ2)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inverse_kinematics(x, 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0944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workspace_radius()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06240" cy="178308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206240" cy="43891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PIDController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điều khiển PID số cho các khớp robot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70992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__init__(Kp, Ki, Kd, dt)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94310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compute(setpoint, current)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simulate_trajectory(target, steps)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4206240" cy="43891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803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ImageProcessor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558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ảnh: lọc, phát hiện cạnh, tách vật thể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create_test_image(size)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90906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threshold(img, thresh)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14223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sobel_edge_detection(img)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37540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find_objects(binary)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4206240" cy="178308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80360"/>
            <a:ext cx="4206240" cy="43891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8803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RobotWithCamera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toàn hệ thống Pick-and-Place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67588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capture_and_detect()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90906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plan_path(objects)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14223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move_to(x, y)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437540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run_pick_and_place()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THỰC TẾ TRONG CƠ ĐIỆN TỬ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033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Dây chuyền sản xuất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pick-and-place tự động phân loại sản phẩm theo hình dạng, màu sắc qua camera công nghiệp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515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033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chất lượng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417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lỗi bề mặt sản phẩm bằng Sobel edge detection và phân tích histogram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50008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tự hành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IK solver + PID điều khiển bánh xe, xử lý ảnh phát hiện làn đường, vật cản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58568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350008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Phẫu thuật robot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7157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cánh tay phẫu thuật với độ chính xác cao, camera nội soi xử lý real-time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57016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64845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97280" y="3630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thông minh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14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tự động nhận diện, phân loại và sắp xếp hàng hóa theo tọa độ 3D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57016"/>
            <a:ext cx="4206240" cy="10972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64845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🛸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630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/ Drone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4014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định bay bằng PID 3 trục, camera phát hiện địa điểm hạ cánh tự động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&amp; CÔNG CỤ PYTHON CHO ROBOTICS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1234440" cy="58521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100584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toán ma trận, mảng số học tốc độ cao — nền tảng của mọi thuật toán robot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1051560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0515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627632"/>
            <a:ext cx="1234440" cy="585216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2763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OpenCV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7632" y="167335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 và video toàn diện — threshold, contour, feature detection, camera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719072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7190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295144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95144"/>
            <a:ext cx="1234440" cy="58521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951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SciPy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27632" y="234086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hóa, kinematics, signal processing — phân tích hệ thống điều khiển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386584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3865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scipy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962656"/>
            <a:ext cx="1234440" cy="585216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6265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27632" y="300837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đồ thị quỹ đạo robot, PID response, phân tích kết quả thực nghiệm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054096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0540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30168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630168"/>
            <a:ext cx="1234440" cy="58521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63016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ROS/rclpy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27632" y="367588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Operating System — middleware chuẩn công nghiệp cho robot thực tế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721608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7216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ros-humble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297680"/>
            <a:ext cx="1234440" cy="58521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29768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PyBullet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627632" y="434340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vật lý robot 3D, kiểm thử thuật toán trước khi deploy phần cứng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4389120"/>
            <a:ext cx="196596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43891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pybullet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SÁNH: FORWARD vs INVERSE KINEMATICS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7548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FORWARD KINEMATICS (FK)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Góc khớp (θ1, θ2)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Vị trí (x, y)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Công thức: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L1·cos(θ1)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L2·cos(θ1+θ2)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= L1·sin(θ1)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L2·sin(θ1+θ2)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Đặc điểm: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Luôn có nghiệm duy nhất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Tính toán đơn giản, nhanh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Dùng để kiểm tra vị trí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475488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INVERSE KINEMATICS (IK)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Vị trí mong muốn (x,y)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Góc khớp (θ1, θ2)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Công thức: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cos(θ2) = (x²+y²-L1²-L2²)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 (2·L1·L2)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θ1 = atan2(y,x)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atan2(k2,k1)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Đặc điểm: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Có thể không có nghiệm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Có thể có nhiều nghiệm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Cần kiểm tra vùng làm việc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377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</a:rPr>
              <a:t>⟺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TIẾP THEO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GIAI ĐOẠN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BF5FB"/>
                </a:solidFill>
              </a:rPr>
              <a:t>Ngắn hạn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37360"/>
            <a:ext cx="54864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OpenCV thực tế thay NumPy thuần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60320"/>
            <a:ext cx="54864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robot 3-DOF, 6-DOF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383280"/>
            <a:ext cx="54864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Raspberry Pi / Arduino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914400"/>
            <a:ext cx="2834640" cy="393192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914400"/>
            <a:ext cx="2834640" cy="658368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9" name="Text 17"/>
          <p:cNvSpPr/>
          <p:nvPr/>
        </p:nvSpPr>
        <p:spPr>
          <a:xfrm>
            <a:off x="3227832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GIAI ĐOẠN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27832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BF5FB"/>
                </a:solidFill>
              </a:rPr>
              <a:t>Trung hạn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173736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1737360"/>
            <a:ext cx="54864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17373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ROS2 + Python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56032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2560320"/>
            <a:ext cx="54864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6" name="Text 24"/>
          <p:cNvSpPr/>
          <p:nvPr/>
        </p:nvSpPr>
        <p:spPr>
          <a:xfrm>
            <a:off x="3502152" y="25603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(YOLO) phát hiện vật thể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338328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64992" y="3383280"/>
            <a:ext cx="54864" cy="713232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33832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đạo tránh vật cản (A*, RRT)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914400"/>
            <a:ext cx="2834640" cy="393192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914400"/>
            <a:ext cx="2834640" cy="6583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GIAI ĐOẠN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81344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BF5FB"/>
                </a:solidFill>
              </a:rPr>
              <a:t>Dài hạn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18504" y="173736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18504" y="1737360"/>
            <a:ext cx="54864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17373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học tăng cường (Reinforcement Learning)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18504" y="256032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18504" y="2560320"/>
            <a:ext cx="54864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25603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– mô phỏng 3D real-time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18504" y="3383280"/>
            <a:ext cx="25603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8504" y="3383280"/>
            <a:ext cx="54864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33832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vào đề tài nghiên cứu UET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6655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là ngôn ngữ lý tưởng cho Robotics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58191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 rõ ràng, thư viện phong phú, cộng đồng mạnh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822960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7568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6655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11226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là nền tảng điều khiển robot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FK/IK giải quyết bài toán chuyển đổi không gian khớp – không gian làm việc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822960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6265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6655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9992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 hiệu quả và dễ triển khai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355848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điều khiển kinh điển phù hợp với robot công nghiệp và nghiên cứu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822960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962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6655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8862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 tích hợp hoàn chỉnh pipeline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242816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thu ảnh → lọc nhiễu → phát hiện cạnh → nhận diện vật thể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Tiến Tài  |  Cơ điện tử  |  UET – ĐHQGHN  |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2135</Words>
  <Application>Microsoft Office PowerPoint</Application>
  <PresentationFormat>On-screen Show (16:9)</PresentationFormat>
  <Paragraphs>357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trong Điều khiển Robot và Xử lý ảnh</dc:title>
  <dc:subject>PptxGenJS Presentation</dc:subject>
  <dc:creator>Nguyễn Tiến Tài</dc:creator>
  <cp:lastModifiedBy>Tài Nguyễn</cp:lastModifiedBy>
  <cp:revision>2</cp:revision>
  <dcterms:created xsi:type="dcterms:W3CDTF">2026-05-23T11:45:16Z</dcterms:created>
  <dcterms:modified xsi:type="dcterms:W3CDTF">2026-05-23T11:48:13Z</dcterms:modified>
</cp:coreProperties>
</file>